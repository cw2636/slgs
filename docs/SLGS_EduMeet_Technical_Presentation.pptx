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C9A227"/>
                </a:solidFill>
              </a:defRPr>
            </a:pPr>
            <a:r>
              <a:t>SLGS EduMeet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E0E0E0"/>
                </a:solidFill>
              </a:defRPr>
            </a:pPr>
            <a:r>
              <a:t>Virtual Classroom Platform for Sierra Leone Grammar School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88"/>
                </a:solidFill>
              </a:defRPr>
            </a:pPr>
            <a:r>
              <a:t>React  •  Node.js/Express  •  Go (Gin)  •  LiveKit SFU  •  MongoDB  •  WebSocket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</a:defRPr>
            </a:pPr>
            <a:r>
              <a:t>Christopher Wilson  |  April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C9A227"/>
                </a:solidFill>
              </a:defRPr>
            </a:pPr>
            <a:r>
              <a:t>The Problem: Peer-to-Peer WebRTC Doesn't Scale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029200" cy="4754880"/>
          </a:xfrm>
          <a:prstGeom prst="roundRect">
            <a:avLst/>
          </a:prstGeom>
          <a:solidFill>
            <a:srgbClr val="122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9A227"/>
                </a:solidFill>
              </a:defRPr>
            </a:pPr>
            <a:r>
              <a:t>Mesh Topology (Original)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0"/>
                </a:solidFill>
              </a:defRPr>
            </a:pPr>
          </a:p>
          <a:p>
            <a:pPr>
              <a:spcBef>
                <a:spcPts val="400"/>
              </a:spcBef>
              <a:defRPr sz="1500" b="0">
                <a:solidFill>
                  <a:srgbClr val="E0E0E0"/>
                </a:solidFill>
              </a:defRPr>
            </a:pPr>
            <a:r>
              <a:t>Every participant connects to every other participant</a:t>
            </a:r>
          </a:p>
          <a:p>
            <a:pPr>
              <a:spcBef>
                <a:spcPts val="400"/>
              </a:spcBef>
              <a:defRPr sz="1500" b="0">
                <a:solidFill>
                  <a:srgbClr val="E0E0E0"/>
                </a:solidFill>
              </a:defRPr>
            </a:pPr>
            <a:r>
              <a:t>O(n²) connections — 4 users = 6 connections</a:t>
            </a:r>
          </a:p>
          <a:p>
            <a:pPr>
              <a:spcBef>
                <a:spcPts val="400"/>
              </a:spcBef>
              <a:defRPr sz="1500" b="0">
                <a:solidFill>
                  <a:srgbClr val="E0E0E0"/>
                </a:solidFill>
              </a:defRPr>
            </a:pPr>
            <a:r>
              <a:t>O(n) bandwidth — upload your stream N-1 times</a:t>
            </a:r>
          </a:p>
          <a:p>
            <a:pPr>
              <a:spcBef>
                <a:spcPts val="400"/>
              </a:spcBef>
              <a:defRPr sz="1500" b="0">
                <a:solidFill>
                  <a:srgbClr val="E0E0E0"/>
                </a:solidFill>
              </a:defRPr>
            </a:pPr>
            <a:r>
              <a:t>8 users = 28 connections, 7× upload bandwidth</a:t>
            </a:r>
          </a:p>
          <a:p>
            <a:pPr>
              <a:spcBef>
                <a:spcPts val="400"/>
              </a:spcBef>
              <a:defRPr sz="1500" b="1">
                <a:solidFill>
                  <a:srgbClr val="EF4444"/>
                </a:solidFill>
              </a:defRPr>
            </a:pPr>
            <a:r>
              <a:t>30 students = 435 connections (impossible)</a:t>
            </a:r>
          </a:p>
          <a:p>
            <a:pPr>
              <a:spcBef>
                <a:spcPts val="400"/>
              </a:spcBef>
              <a:defRPr sz="1000" b="0">
                <a:solidFill>
                  <a:srgbClr val="E0E0E0"/>
                </a:solidFill>
              </a:defRPr>
            </a:pPr>
          </a:p>
          <a:p>
            <a:pPr>
              <a:spcBef>
                <a:spcPts val="400"/>
              </a:spcBef>
              <a:defRPr sz="1600" b="1">
                <a:solidFill>
                  <a:srgbClr val="C9A227"/>
                </a:solidFill>
              </a:defRPr>
            </a:pPr>
            <a:r>
              <a:t>Real classroom failures:</a:t>
            </a:r>
          </a:p>
          <a:p>
            <a:pPr>
              <a:spcBef>
                <a:spcPts val="400"/>
              </a:spcBef>
              <a:defRPr sz="1400" b="0">
                <a:solidFill>
                  <a:srgbClr val="888888"/>
                </a:solidFill>
              </a:defRPr>
            </a:pPr>
            <a:r>
              <a:t>• CPU spikes from encoding every peer's stream</a:t>
            </a:r>
          </a:p>
          <a:p>
            <a:pPr>
              <a:spcBef>
                <a:spcPts val="400"/>
              </a:spcBef>
              <a:defRPr sz="1400" b="0">
                <a:solidFill>
                  <a:srgbClr val="888888"/>
                </a:solidFill>
              </a:defRPr>
            </a:pPr>
            <a:r>
              <a:t>• Video freezes when 5th student joins</a:t>
            </a:r>
          </a:p>
          <a:p>
            <a:pPr>
              <a:spcBef>
                <a:spcPts val="400"/>
              </a:spcBef>
              <a:defRPr sz="1400" b="0">
                <a:solidFill>
                  <a:srgbClr val="888888"/>
                </a:solidFill>
              </a:defRPr>
            </a:pPr>
            <a:r>
              <a:t>• Connection cascade failures</a:t>
            </a:r>
          </a:p>
          <a:p>
            <a:pPr>
              <a:spcBef>
                <a:spcPts val="400"/>
              </a:spcBef>
              <a:defRPr sz="1400" b="0">
                <a:solidFill>
                  <a:srgbClr val="888888"/>
                </a:solidFill>
              </a:defRPr>
            </a:pPr>
            <a:r>
              <a:t>• No server-side recording possible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122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5544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9A227"/>
                </a:solidFill>
              </a:defRPr>
            </a:pPr>
            <a:r>
              <a:t>Connection Growth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103120"/>
            <a:ext cx="4754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0"/>
                </a:solidFill>
              </a:defRPr>
            </a:pPr>
          </a:p>
          <a:p>
            <a:pPr>
              <a:spcBef>
                <a:spcPts val="400"/>
              </a:spcBef>
              <a:defRPr sz="1400" b="1">
                <a:solidFill>
                  <a:srgbClr val="888888"/>
                </a:solidFill>
              </a:defRPr>
            </a:pPr>
            <a:r>
              <a:t>Participants    Connections    Upload/User</a:t>
            </a:r>
          </a:p>
          <a:p>
            <a:pPr>
              <a:spcBef>
                <a:spcPts val="400"/>
              </a:spcBef>
              <a:defRPr sz="1400" b="0">
                <a:solidFill>
                  <a:srgbClr val="22C55E"/>
                </a:solidFill>
              </a:defRPr>
            </a:pPr>
            <a:r>
              <a:t>     2                1             1 stream</a:t>
            </a:r>
          </a:p>
          <a:p>
            <a:pPr>
              <a:spcBef>
                <a:spcPts val="400"/>
              </a:spcBef>
              <a:defRPr sz="1400" b="0">
                <a:solidFill>
                  <a:srgbClr val="E0E0E0"/>
                </a:solidFill>
              </a:defRPr>
            </a:pPr>
            <a:r>
              <a:t>     4                6             3 streams</a:t>
            </a:r>
          </a:p>
          <a:p>
            <a:pPr>
              <a:spcBef>
                <a:spcPts val="400"/>
              </a:spcBef>
              <a:defRPr sz="1400" b="0">
                <a:solidFill>
                  <a:srgbClr val="E0E0E0"/>
                </a:solidFill>
              </a:defRPr>
            </a:pPr>
            <a:r>
              <a:t>     8              28             7 streams</a:t>
            </a:r>
          </a:p>
          <a:p>
            <a:pPr>
              <a:spcBef>
                <a:spcPts val="400"/>
              </a:spcBef>
              <a:defRPr sz="1400" b="0">
                <a:solidFill>
                  <a:srgbClr val="EF4444"/>
                </a:solidFill>
              </a:defRPr>
            </a:pPr>
            <a:r>
              <a:t>    16             120            15 streams</a:t>
            </a:r>
          </a:p>
          <a:p>
            <a:pPr>
              <a:spcBef>
                <a:spcPts val="400"/>
              </a:spcBef>
              <a:defRPr sz="1400" b="1">
                <a:solidFill>
                  <a:srgbClr val="EF4444"/>
                </a:solidFill>
              </a:defRPr>
            </a:pPr>
            <a:r>
              <a:t>    30             435            29 streams</a:t>
            </a:r>
          </a:p>
          <a:p>
            <a:pPr>
              <a:spcBef>
                <a:spcPts val="400"/>
              </a:spcBef>
              <a:defRPr sz="1000" b="0">
                <a:solidFill>
                  <a:srgbClr val="E0E0E0"/>
                </a:solidFill>
              </a:defRPr>
            </a:pPr>
          </a:p>
          <a:p>
            <a:pPr>
              <a:spcBef>
                <a:spcPts val="400"/>
              </a:spcBef>
              <a:defRPr sz="1400" b="0">
                <a:solidFill>
                  <a:srgbClr val="888888"/>
                </a:solidFill>
              </a:defRPr>
            </a:pPr>
            <a:r>
              <a:t>Formula: connections = n(n-1)/2</a:t>
            </a:r>
          </a:p>
          <a:p>
            <a:pPr>
              <a:spcBef>
                <a:spcPts val="400"/>
              </a:spcBef>
              <a:defRPr sz="1000" b="0">
                <a:solidFill>
                  <a:srgbClr val="E0E0E0"/>
                </a:solidFill>
              </a:defRPr>
            </a:pPr>
          </a:p>
          <a:p>
            <a:pPr>
              <a:spcBef>
                <a:spcPts val="400"/>
              </a:spcBef>
              <a:defRPr sz="1500" b="1">
                <a:solidFill>
                  <a:srgbClr val="E0E0E0"/>
                </a:solidFill>
              </a:defRPr>
            </a:pPr>
            <a:r>
              <a:t>A Sierra Leone classroom has 30-50 students.</a:t>
            </a:r>
          </a:p>
          <a:p>
            <a:pPr>
              <a:spcBef>
                <a:spcPts val="400"/>
              </a:spcBef>
              <a:defRPr sz="1500" b="1">
                <a:solidFill>
                  <a:srgbClr val="EF4444"/>
                </a:solidFill>
              </a:defRPr>
            </a:pPr>
            <a:r>
              <a:t>Mesh topology is fundamentally unsuitable.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C9A227"/>
                </a:solidFill>
              </a:defRPr>
            </a:pPr>
            <a:r>
              <a:t>The Solution: LiveKit SFU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029200" cy="4754880"/>
          </a:xfrm>
          <a:prstGeom prst="roundRect">
            <a:avLst/>
          </a:prstGeom>
          <a:solidFill>
            <a:srgbClr val="122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C55E"/>
                </a:solidFill>
              </a:defRPr>
            </a:pPr>
            <a:r>
              <a:t>Selective Forwarding Unit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0"/>
                </a:solidFill>
              </a:defRPr>
            </a:pPr>
          </a:p>
          <a:p>
            <a:pPr>
              <a:spcBef>
                <a:spcPts val="400"/>
              </a:spcBef>
              <a:defRPr sz="1500" b="1">
                <a:solidFill>
                  <a:srgbClr val="E0E0E0"/>
                </a:solidFill>
              </a:defRPr>
            </a:pPr>
            <a:r>
              <a:t>Each user uploads ONE stream to the server</a:t>
            </a:r>
          </a:p>
          <a:p>
            <a:pPr>
              <a:spcBef>
                <a:spcPts val="400"/>
              </a:spcBef>
              <a:defRPr sz="1500" b="0">
                <a:solidFill>
                  <a:srgbClr val="E0E0E0"/>
                </a:solidFill>
              </a:defRPr>
            </a:pPr>
            <a:r>
              <a:t>Server forwards to all subscribers (no re-encoding)</a:t>
            </a:r>
          </a:p>
          <a:p>
            <a:pPr>
              <a:spcBef>
                <a:spcPts val="400"/>
              </a:spcBef>
              <a:defRPr sz="800" b="0">
                <a:solidFill>
                  <a:srgbClr val="E0E0E0"/>
                </a:solidFill>
              </a:defRPr>
            </a:pPr>
          </a:p>
          <a:p>
            <a:pPr>
              <a:spcBef>
                <a:spcPts val="400"/>
              </a:spcBef>
              <a:defRPr sz="1400" b="1">
                <a:solidFill>
                  <a:srgbClr val="888888"/>
                </a:solidFill>
              </a:defRPr>
            </a:pPr>
            <a:r>
              <a:t>Participants    Upload       Download</a:t>
            </a:r>
          </a:p>
          <a:p>
            <a:pPr>
              <a:spcBef>
                <a:spcPts val="400"/>
              </a:spcBef>
              <a:defRPr sz="1400" b="0">
                <a:solidFill>
                  <a:srgbClr val="22C55E"/>
                </a:solidFill>
              </a:defRPr>
            </a:pPr>
            <a:r>
              <a:t>     2           1 stream     1 stream</a:t>
            </a:r>
          </a:p>
          <a:p>
            <a:pPr>
              <a:spcBef>
                <a:spcPts val="400"/>
              </a:spcBef>
              <a:defRPr sz="1400" b="0">
                <a:solidFill>
                  <a:srgbClr val="22C55E"/>
                </a:solidFill>
              </a:defRPr>
            </a:pPr>
            <a:r>
              <a:t>     8           1 stream     7 streams</a:t>
            </a:r>
          </a:p>
          <a:p>
            <a:pPr>
              <a:spcBef>
                <a:spcPts val="400"/>
              </a:spcBef>
              <a:defRPr sz="1400" b="1">
                <a:solidFill>
                  <a:srgbClr val="22C55E"/>
                </a:solidFill>
              </a:defRPr>
            </a:pPr>
            <a:r>
              <a:t>    30           1 stream     adaptive</a:t>
            </a:r>
          </a:p>
          <a:p>
            <a:pPr>
              <a:spcBef>
                <a:spcPts val="400"/>
              </a:spcBef>
              <a:defRPr sz="1400" b="1">
                <a:solidFill>
                  <a:srgbClr val="22C55E"/>
                </a:solidFill>
              </a:defRPr>
            </a:pPr>
            <a:r>
              <a:t>   100           1 stream     adaptive</a:t>
            </a:r>
          </a:p>
          <a:p>
            <a:pPr>
              <a:spcBef>
                <a:spcPts val="400"/>
              </a:spcBef>
              <a:defRPr sz="800" b="0">
                <a:solidFill>
                  <a:srgbClr val="E0E0E0"/>
                </a:solidFill>
              </a:defRPr>
            </a:pPr>
          </a:p>
          <a:p>
            <a:pPr>
              <a:spcBef>
                <a:spcPts val="400"/>
              </a:spcBef>
              <a:defRPr sz="1400" b="0">
                <a:solidFill>
                  <a:srgbClr val="C9A227"/>
                </a:solidFill>
              </a:defRPr>
            </a:pPr>
            <a:r>
              <a:t>Key: upload is always 1 stream regardless of room size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122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5544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C55E"/>
                </a:solidFill>
              </a:defRPr>
            </a:pPr>
            <a:r>
              <a:t>Why LiveKit Specifically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10312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0"/>
                </a:solidFill>
              </a:defRPr>
            </a:pPr>
          </a:p>
          <a:p>
            <a:pPr>
              <a:spcBef>
                <a:spcPts val="400"/>
              </a:spcBef>
              <a:defRPr sz="1500" b="0">
                <a:solidFill>
                  <a:srgbClr val="22C55E"/>
                </a:solidFill>
              </a:defRPr>
            </a:pPr>
            <a:r>
              <a:t>✓ Single Go binary — no Java/Docker complexity</a:t>
            </a:r>
          </a:p>
          <a:p>
            <a:pPr>
              <a:spcBef>
                <a:spcPts val="400"/>
              </a:spcBef>
              <a:defRPr sz="1500" b="0">
                <a:solidFill>
                  <a:srgbClr val="22C55E"/>
                </a:solidFill>
              </a:defRPr>
            </a:pPr>
            <a:r>
              <a:t>✓ One YAML config file</a:t>
            </a:r>
          </a:p>
          <a:p>
            <a:pPr>
              <a:spcBef>
                <a:spcPts val="400"/>
              </a:spcBef>
              <a:defRPr sz="1500" b="0">
                <a:solidFill>
                  <a:srgbClr val="22C55E"/>
                </a:solidFill>
              </a:defRPr>
            </a:pPr>
            <a:r>
              <a:t>✓ First-class React SDK (@livekit/components-react)</a:t>
            </a:r>
          </a:p>
          <a:p>
            <a:pPr>
              <a:spcBef>
                <a:spcPts val="400"/>
              </a:spcBef>
              <a:defRPr sz="1500" b="0">
                <a:solidFill>
                  <a:srgbClr val="22C55E"/>
                </a:solidFill>
              </a:defRPr>
            </a:pPr>
            <a:r>
              <a:t>✓ Built-in TURN server (NAT traversal)</a:t>
            </a:r>
          </a:p>
          <a:p>
            <a:pPr>
              <a:spcBef>
                <a:spcPts val="400"/>
              </a:spcBef>
              <a:defRPr sz="1500" b="0">
                <a:solidFill>
                  <a:srgbClr val="22C55E"/>
                </a:solidFill>
              </a:defRPr>
            </a:pPr>
            <a:r>
              <a:t>✓ Simulcast — server chooses quality per subscriber</a:t>
            </a:r>
          </a:p>
          <a:p>
            <a:pPr>
              <a:spcBef>
                <a:spcPts val="400"/>
              </a:spcBef>
              <a:defRPr sz="1500" b="0">
                <a:solidFill>
                  <a:srgbClr val="22C55E"/>
                </a:solidFill>
              </a:defRPr>
            </a:pPr>
            <a:r>
              <a:t>✓ Server-side recording capability</a:t>
            </a:r>
          </a:p>
          <a:p>
            <a:pPr>
              <a:spcBef>
                <a:spcPts val="400"/>
              </a:spcBef>
              <a:defRPr sz="1500" b="0">
                <a:solidFill>
                  <a:srgbClr val="22C55E"/>
                </a:solidFill>
              </a:defRPr>
            </a:pPr>
            <a:r>
              <a:t>✓ JWT token authentication (HMAC-SHA256)</a:t>
            </a:r>
          </a:p>
          <a:p>
            <a:pPr>
              <a:spcBef>
                <a:spcPts val="400"/>
              </a:spcBef>
              <a:defRPr sz="800" b="0">
                <a:solidFill>
                  <a:srgbClr val="E0E0E0"/>
                </a:solidFill>
              </a:defRPr>
            </a:pPr>
          </a:p>
          <a:p>
            <a:pPr>
              <a:spcBef>
                <a:spcPts val="400"/>
              </a:spcBef>
              <a:defRPr sz="1300" b="0">
                <a:solidFill>
                  <a:srgbClr val="888888"/>
                </a:solidFill>
              </a:defRPr>
            </a:pPr>
            <a:r>
              <a:t>vs Jitsi: complex stack (Java + XMPP + Oracleserver)</a:t>
            </a:r>
          </a:p>
          <a:p>
            <a:pPr>
              <a:spcBef>
                <a:spcPts val="400"/>
              </a:spcBef>
              <a:defRPr sz="1300" b="0">
                <a:solidFill>
                  <a:srgbClr val="888888"/>
                </a:solidFill>
              </a:defRPr>
            </a:pPr>
            <a:r>
              <a:t>vs Mediasoup: library only, build everything yourself</a:t>
            </a:r>
          </a:p>
          <a:p>
            <a:pPr>
              <a:spcBef>
                <a:spcPts val="400"/>
              </a:spcBef>
              <a:defRPr sz="1300" b="0">
                <a:solidFill>
                  <a:srgbClr val="888888"/>
                </a:solidFill>
              </a:defRPr>
            </a:pPr>
            <a:r>
              <a:t>vs Zoom SDK: proprietary, per-minute pricing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C9A227"/>
                </a:solidFill>
              </a:defRPr>
            </a:pPr>
            <a:r>
              <a:t>System Architecture — Three Coordinated Services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280160"/>
            <a:ext cx="9418320" cy="1188720"/>
          </a:xfrm>
          <a:prstGeom prst="roundRect">
            <a:avLst/>
          </a:prstGeom>
          <a:solidFill>
            <a:srgbClr val="1A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371600"/>
            <a:ext cx="8869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</a:defRPr>
            </a:pPr>
            <a:r>
              <a:t>Browser (React)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737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</a:defRPr>
            </a:pPr>
            <a:r>
              <a:t>EduMeetLive.js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737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</a:defRPr>
            </a:pPr>
            <a:r>
              <a:t>LiveKit Room (Video/Audio)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1737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</a:defRPr>
            </a:pPr>
            <a:r>
              <a:t>WebSocket Hook (Features)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2926080"/>
            <a:ext cx="2743200" cy="2560320"/>
          </a:xfrm>
          <a:prstGeom prst="roundRect">
            <a:avLst/>
          </a:prstGeom>
          <a:solidFill>
            <a:srgbClr val="122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30175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9A227"/>
                </a:solidFill>
              </a:defRPr>
            </a:pPr>
            <a:r>
              <a:t>Express.js :3000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347472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</a:defRPr>
            </a:pPr>
          </a:p>
          <a:p>
            <a:pPr>
              <a:spcBef>
                <a:spcPts val="400"/>
              </a:spcBef>
              <a:defRPr sz="1300" b="0">
                <a:solidFill>
                  <a:srgbClr val="E0E0E0"/>
                </a:solidFill>
              </a:defRPr>
            </a:pPr>
            <a:r>
              <a:t>Authentication</a:t>
            </a:r>
          </a:p>
          <a:p>
            <a:pPr>
              <a:spcBef>
                <a:spcPts val="400"/>
              </a:spcBef>
              <a:defRPr sz="1300" b="0">
                <a:solidFill>
                  <a:srgbClr val="E0E0E0"/>
                </a:solidFill>
              </a:defRPr>
            </a:pPr>
            <a:r>
              <a:t>Session management</a:t>
            </a:r>
          </a:p>
          <a:p>
            <a:pPr>
              <a:spcBef>
                <a:spcPts val="400"/>
              </a:spcBef>
              <a:defRPr sz="1300" b="0">
                <a:solidFill>
                  <a:srgbClr val="E0E0E0"/>
                </a:solidFill>
              </a:defRPr>
            </a:pPr>
            <a:r>
              <a:t>MongoDB queries</a:t>
            </a:r>
          </a:p>
          <a:p>
            <a:pPr>
              <a:spcBef>
                <a:spcPts val="400"/>
              </a:spcBef>
              <a:defRPr sz="1300" b="0">
                <a:solidFill>
                  <a:srgbClr val="E0E0E0"/>
                </a:solidFill>
              </a:defRPr>
            </a:pPr>
            <a:r>
              <a:t>Course/grade APIs</a:t>
            </a:r>
          </a:p>
          <a:p>
            <a:pPr>
              <a:spcBef>
                <a:spcPts val="400"/>
              </a:spcBef>
              <a:defRPr sz="1300" b="0">
                <a:solidFill>
                  <a:srgbClr val="E0E0E0"/>
                </a:solidFill>
              </a:defRPr>
            </a:pPr>
            <a:r>
              <a:t>Server-side rendering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2926080"/>
            <a:ext cx="2743200" cy="2560320"/>
          </a:xfrm>
          <a:prstGeom prst="roundRect">
            <a:avLst/>
          </a:prstGeom>
          <a:solidFill>
            <a:srgbClr val="1525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30175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</a:defRPr>
            </a:pPr>
            <a:r>
              <a:t>LiveKit SFU :7880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347472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</a:defRPr>
            </a:pPr>
          </a:p>
          <a:p>
            <a:pPr>
              <a:spcBef>
                <a:spcPts val="400"/>
              </a:spcBef>
              <a:defRPr sz="1300" b="0">
                <a:solidFill>
                  <a:srgbClr val="E0E0E0"/>
                </a:solidFill>
              </a:defRPr>
            </a:pPr>
            <a:r>
              <a:t>Video relay (SFU)</a:t>
            </a:r>
          </a:p>
          <a:p>
            <a:pPr>
              <a:spcBef>
                <a:spcPts val="400"/>
              </a:spcBef>
              <a:defRPr sz="1300" b="0">
                <a:solidFill>
                  <a:srgbClr val="E0E0E0"/>
                </a:solidFill>
              </a:defRPr>
            </a:pPr>
            <a:r>
              <a:t>Audio relay</a:t>
            </a:r>
          </a:p>
          <a:p>
            <a:pPr>
              <a:spcBef>
                <a:spcPts val="400"/>
              </a:spcBef>
              <a:defRPr sz="1300" b="0">
                <a:solidFill>
                  <a:srgbClr val="E0E0E0"/>
                </a:solidFill>
              </a:defRPr>
            </a:pPr>
            <a:r>
              <a:t>Screen share</a:t>
            </a:r>
          </a:p>
          <a:p>
            <a:pPr>
              <a:spcBef>
                <a:spcPts val="400"/>
              </a:spcBef>
              <a:defRPr sz="1300" b="0">
                <a:solidFill>
                  <a:srgbClr val="E0E0E0"/>
                </a:solidFill>
              </a:defRPr>
            </a:pPr>
            <a:r>
              <a:t>ICE/DTLS/TURN</a:t>
            </a:r>
          </a:p>
          <a:p>
            <a:pPr>
              <a:spcBef>
                <a:spcPts val="400"/>
              </a:spcBef>
              <a:defRPr sz="1300" b="0">
                <a:solidFill>
                  <a:srgbClr val="E0E0E0"/>
                </a:solidFill>
              </a:defRPr>
            </a:pPr>
            <a:r>
              <a:t>Simulcast layers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926080"/>
            <a:ext cx="2743200" cy="2560320"/>
          </a:xfrm>
          <a:prstGeom prst="roundRect">
            <a:avLst/>
          </a:prstGeom>
          <a:solidFill>
            <a:srgbClr val="122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30175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9A227"/>
                </a:solidFill>
              </a:defRPr>
            </a:pPr>
            <a:r>
              <a:t>Go Server :4000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347472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</a:defRPr>
            </a:pPr>
          </a:p>
          <a:p>
            <a:pPr>
              <a:spcBef>
                <a:spcPts val="400"/>
              </a:spcBef>
              <a:defRPr sz="1300" b="0">
                <a:solidFill>
                  <a:srgbClr val="E0E0E0"/>
                </a:solidFill>
              </a:defRPr>
            </a:pPr>
            <a:r>
              <a:t>WebSocket hub</a:t>
            </a:r>
          </a:p>
          <a:p>
            <a:pPr>
              <a:spcBef>
                <a:spcPts val="400"/>
              </a:spcBef>
              <a:defRPr sz="1300" b="0">
                <a:solidFill>
                  <a:srgbClr val="E0E0E0"/>
                </a:solidFill>
              </a:defRPr>
            </a:pPr>
            <a:r>
              <a:t>JWT token signing</a:t>
            </a:r>
          </a:p>
          <a:p>
            <a:pPr>
              <a:spcBef>
                <a:spcPts val="400"/>
              </a:spcBef>
              <a:defRPr sz="1300" b="0">
                <a:solidFill>
                  <a:srgbClr val="E0E0E0"/>
                </a:solidFill>
              </a:defRPr>
            </a:pPr>
            <a:r>
              <a:t>Breakout tokens</a:t>
            </a:r>
          </a:p>
          <a:p>
            <a:pPr>
              <a:spcBef>
                <a:spcPts val="400"/>
              </a:spcBef>
              <a:defRPr sz="1300" b="0">
                <a:solidFill>
                  <a:srgbClr val="E0E0E0"/>
                </a:solidFill>
              </a:defRPr>
            </a:pPr>
            <a:r>
              <a:t>Rate limiting</a:t>
            </a:r>
          </a:p>
          <a:p>
            <a:pPr>
              <a:spcBef>
                <a:spcPts val="400"/>
              </a:spcBef>
              <a:defRPr sz="1300" b="0">
                <a:solidFill>
                  <a:srgbClr val="E0E0E0"/>
                </a:solidFill>
              </a:defRPr>
            </a:pPr>
            <a:r>
              <a:t>Room management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71600" y="5760720"/>
            <a:ext cx="9418320" cy="822960"/>
          </a:xfrm>
          <a:prstGeom prst="roundRect">
            <a:avLst/>
          </a:prstGeom>
          <a:solidFill>
            <a:srgbClr val="1A15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45920" y="5852160"/>
            <a:ext cx="8869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A227"/>
                </a:solidFill>
              </a:defRPr>
            </a:pPr>
            <a:r>
              <a:t>Design Principle: LiveKit handles media (video/audio). Go WebSocket handles everything else (chat, whiteboard, polls, quiz). Clean separation = independent scaling.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C9A227"/>
                </a:solidFill>
              </a:defRPr>
            </a:pPr>
            <a:r>
              <a:t>9 Features That Zoom &amp; Teams Don't Have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3474720" cy="1554480"/>
          </a:xfrm>
          <a:prstGeom prst="roundRect">
            <a:avLst/>
          </a:prstGeom>
          <a:solidFill>
            <a:srgbClr val="122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17319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</a:defRPr>
            </a:pPr>
            <a:r>
              <a:t>🖐 Hand Queue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</a:defRPr>
            </a:pPr>
            <a:r>
              <a:t>Ordered queue with position tracking.</a:t>
            </a:r>
            <a:br/>
            <a:r>
              <a:t>Teacher calls next in order.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59" y="1280160"/>
            <a:ext cx="3474720" cy="1554480"/>
          </a:xfrm>
          <a:prstGeom prst="roundRect">
            <a:avLst/>
          </a:prstGeom>
          <a:solidFill>
            <a:srgbClr val="122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1417319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</a:defRPr>
            </a:pPr>
            <a:r>
              <a:t>🗳 Live Poll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182880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</a:defRPr>
            </a:pPr>
            <a:r>
              <a:t>Real-time voting with instant</a:t>
            </a:r>
            <a:br/>
            <a:r>
              <a:t>result visualization.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280160"/>
            <a:ext cx="3474720" cy="1554480"/>
          </a:xfrm>
          <a:prstGeom prst="roundRect">
            <a:avLst/>
          </a:prstGeom>
          <a:solidFill>
            <a:srgbClr val="122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1417319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</a:defRPr>
            </a:pPr>
            <a:r>
              <a:t>🧠 Quiz Mode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182880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</a:defRPr>
            </a:pPr>
            <a:r>
              <a:t>Timed in-class quiz with auto-scoring.</a:t>
            </a:r>
            <a:br/>
            <a:r>
              <a:t>Feeds into gradebook.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108960"/>
            <a:ext cx="3474720" cy="1554480"/>
          </a:xfrm>
          <a:prstGeom prst="roundRect">
            <a:avLst/>
          </a:prstGeom>
          <a:solidFill>
            <a:srgbClr val="122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2461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</a:defRPr>
            </a:pPr>
            <a:r>
              <a:t>👁 Focus Check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65760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</a:defRPr>
            </a:pPr>
            <a:r>
              <a:t>Anonymous comprehension pulse:</a:t>
            </a:r>
            <a:br/>
            <a:r>
              <a:t>Clear / Confused / Too Fast.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59" y="3108960"/>
            <a:ext cx="3474720" cy="1554480"/>
          </a:xfrm>
          <a:prstGeom prst="roundRect">
            <a:avLst/>
          </a:prstGeom>
          <a:solidFill>
            <a:srgbClr val="122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32461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88888"/>
                </a:solidFill>
              </a:defRPr>
            </a:pPr>
            <a:r>
              <a:t>⏱ Pomodoro Timer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365760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</a:defRPr>
            </a:pPr>
            <a:r>
              <a:t>Class-wide 25/5 study timer</a:t>
            </a:r>
            <a:br/>
            <a:r>
              <a:t>synced via WebSocket.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3108960"/>
            <a:ext cx="3474720" cy="1554480"/>
          </a:xfrm>
          <a:prstGeom prst="roundRect">
            <a:avLst/>
          </a:prstGeom>
          <a:solidFill>
            <a:srgbClr val="122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32461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88888"/>
                </a:solidFill>
              </a:defRPr>
            </a:pPr>
            <a:r>
              <a:t>🎯 Reactions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365760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</a:defRPr>
            </a:pPr>
            <a:r>
              <a:t>Floating educational emoji</a:t>
            </a:r>
            <a:br/>
            <a:r>
              <a:t>reactions over video grid.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937760"/>
            <a:ext cx="3474720" cy="1554480"/>
          </a:xfrm>
          <a:prstGeom prst="roundRect">
            <a:avLst/>
          </a:prstGeom>
          <a:solidFill>
            <a:srgbClr val="122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0749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9A227"/>
                </a:solidFill>
              </a:defRPr>
            </a:pPr>
            <a:r>
              <a:t>📝 Class Notes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48640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</a:defRPr>
            </a:pPr>
            <a:r>
              <a:t>Shared notepad. Teacher pins</a:t>
            </a:r>
            <a:br/>
            <a:r>
              <a:t>key points. Students export.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80559" y="4937760"/>
            <a:ext cx="3474720" cy="1554480"/>
          </a:xfrm>
          <a:prstGeom prst="roundRect">
            <a:avLst/>
          </a:prstGeom>
          <a:solidFill>
            <a:srgbClr val="122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63440" y="50749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</a:defRPr>
            </a:pPr>
            <a:r>
              <a:t>🚪 Breakout Rooms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548640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</a:defRPr>
            </a:pPr>
            <a:r>
              <a:t>Auto-group into N rooms.</a:t>
            </a:r>
            <a:br/>
            <a:r>
              <a:t>LiveKit sub-room switching.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0" y="4937760"/>
            <a:ext cx="3474720" cy="1554480"/>
          </a:xfrm>
          <a:prstGeom prst="roundRect">
            <a:avLst/>
          </a:prstGeom>
          <a:solidFill>
            <a:srgbClr val="122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0" y="50749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9A227"/>
                </a:solidFill>
              </a:defRPr>
            </a:pPr>
            <a:r>
              <a:t>🎨 Whiteboard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548640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</a:defRPr>
            </a:pPr>
            <a:r>
              <a:t>Real-time collaborative canvas.</a:t>
            </a:r>
            <a:br/>
            <a:r>
              <a:t>1920×1080 fixed coordinates.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C9A227"/>
                </a:solidFill>
              </a:defRPr>
            </a:pPr>
            <a:r>
              <a:t>Technical Challenges Overcome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3474720" cy="2286000"/>
          </a:xfrm>
          <a:prstGeom prst="roundRect">
            <a:avLst/>
          </a:prstGeom>
          <a:solidFill>
            <a:srgbClr val="122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17319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4444"/>
                </a:solidFill>
              </a:defRPr>
            </a:pPr>
            <a:r>
              <a:t>WSL2 ICE Failure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</a:defRPr>
            </a:pPr>
            <a:r>
              <a:t>UDP ephemeral ports not forwarded through</a:t>
            </a:r>
            <a:br/>
            <a:r>
              <a:t>WSL2→Windows. ICE candidates unreachable.</a:t>
            </a:r>
            <a:br/>
            <a:r>
              <a:t>Fix: force_tcp + built-in TURN server.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59" y="1280160"/>
            <a:ext cx="3474720" cy="2286000"/>
          </a:xfrm>
          <a:prstGeom prst="roundRect">
            <a:avLst/>
          </a:prstGeom>
          <a:solidFill>
            <a:srgbClr val="122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1417319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</a:defRPr>
            </a:pPr>
            <a:r>
              <a:t>React StrictMode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182880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</a:defRPr>
            </a:pPr>
            <a:r>
              <a:t>Double-mount killed LiveKit WebSocket.</a:t>
            </a:r>
            <a:br/>
            <a:r>
              <a:t>Second mount's cleanup closed first's connection.</a:t>
            </a:r>
            <a:br/>
            <a:r>
              <a:t>Fix: Disabled StrictMode for classroom.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280160"/>
            <a:ext cx="3474720" cy="2286000"/>
          </a:xfrm>
          <a:prstGeom prst="roundRect">
            <a:avLst/>
          </a:prstGeom>
          <a:solidFill>
            <a:srgbClr val="122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1417319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</a:defRPr>
            </a:pPr>
            <a:r>
              <a:t>Protocol Mismatch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182880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</a:defRPr>
            </a:pPr>
            <a:r>
              <a:t>livekit-client v2.18.1 (protocol 16) vs</a:t>
            </a:r>
            <a:br/>
            <a:r>
              <a:t>server v1.7.2 (protocol 13). JOIN_FAILURE.</a:t>
            </a:r>
            <a:br/>
            <a:r>
              <a:t>Fix: Upgraded server to v1.10.1.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3474720" cy="2286000"/>
          </a:xfrm>
          <a:prstGeom prst="roundRect">
            <a:avLst/>
          </a:prstGeom>
          <a:solidFill>
            <a:srgbClr val="122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69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4444"/>
                </a:solidFill>
              </a:defRPr>
            </a:pPr>
            <a:r>
              <a:t>Whiteboard Fragmentation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480559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</a:defRPr>
            </a:pPr>
            <a:r>
              <a:t>Server rate limit (10 msg/s) silently dropped</a:t>
            </a:r>
            <a:br/>
            <a:r>
              <a:t>80% of stroke messages. Remote saw dots.</a:t>
            </a:r>
            <a:br/>
            <a:r>
              <a:t>Fix: Client batching + increased limit to 30/s.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59" y="3931920"/>
            <a:ext cx="3474720" cy="2286000"/>
          </a:xfrm>
          <a:prstGeom prst="roundRect">
            <a:avLst/>
          </a:prstGeom>
          <a:solidFill>
            <a:srgbClr val="122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4069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9A227"/>
                </a:solidFill>
              </a:defRPr>
            </a:pPr>
            <a:r>
              <a:t>Camera Persisting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4480559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</a:defRPr>
            </a:pPr>
            <a:r>
              <a:t>navigate() fired before React unmounted</a:t>
            </a:r>
            <a:br/>
            <a:r>
              <a:t>LiveKitRoom. MediaStreamTrack never stopped.</a:t>
            </a:r>
            <a:br/>
            <a:r>
              <a:t>Fix: useEffect cleanup stops all tracks.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3931920"/>
            <a:ext cx="3474720" cy="2286000"/>
          </a:xfrm>
          <a:prstGeom prst="roundRect">
            <a:avLst/>
          </a:prstGeom>
          <a:solidFill>
            <a:srgbClr val="122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4069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9A227"/>
                </a:solidFill>
              </a:defRPr>
            </a:pPr>
            <a:r>
              <a:t>Breakout Non-Functional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4480559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</a:defRPr>
            </a:pPr>
            <a:r>
              <a:t>Go server had event types but no handler.</a:t>
            </a:r>
            <a:br/>
            <a:r>
              <a:t>breakout_join was just broadcast—no token.</a:t>
            </a:r>
            <a:br/>
            <a:r>
              <a:t>Fix: Added JWT generation in WebSocket hub.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C9A227"/>
                </a:solidFill>
              </a:defRPr>
            </a:pPr>
            <a:r>
              <a:t>Debugging Deep Dive: The ICE Candidate Mystery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88"/>
                </a:solidFill>
              </a:defRPr>
            </a:pPr>
            <a:r>
              <a:t>How I diagnosed the hardest bug — from 'leave-reconnect disconnected' to root cause in 6 steps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474720" cy="2194560"/>
          </a:xfrm>
          <a:prstGeom prst="roundRect">
            <a:avLst/>
          </a:prstGeom>
          <a:solidFill>
            <a:srgbClr val="122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39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</a:defRPr>
            </a:pPr>
            <a:r>
              <a:t>1. Browser Error (Unhelpful)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</a:defRPr>
            </a:pPr>
            <a:r>
              <a:t>leave-reconnect disconnected</a:t>
            </a:r>
            <a:br/>
            <a:r>
              <a:t>could not establish pc connection</a:t>
            </a:r>
            <a:br/>
            <a:r>
              <a:t>No useful information about WHY.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59" y="1554480"/>
            <a:ext cx="3474720" cy="2194560"/>
          </a:xfrm>
          <a:prstGeom prst="roundRect">
            <a:avLst/>
          </a:prstGeom>
          <a:solidFill>
            <a:srgbClr val="122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691639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</a:defRPr>
            </a:pPr>
            <a:r>
              <a:t>2. Server Log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05740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</a:defRPr>
            </a:pPr>
            <a:r>
              <a:t>participant closing reason=SIGNAL_SOURCE_CLOSE</a:t>
            </a:r>
            <a:br/>
            <a:r>
              <a:t>sessionDuration: "0s"</a:t>
            </a:r>
            <a:br/>
            <a:r>
              <a:t>The signal dies instantly — 0 second session!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554480"/>
            <a:ext cx="3474720" cy="2194560"/>
          </a:xfrm>
          <a:prstGeom prst="roundRect">
            <a:avLst/>
          </a:prstGeom>
          <a:solidFill>
            <a:srgbClr val="122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691639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9A227"/>
                </a:solidFill>
              </a:defRPr>
            </a:pPr>
            <a:r>
              <a:t>3. Transport Failure Found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05740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</a:defRPr>
            </a:pPr>
            <a:r>
              <a:t>sent signal response: leave</a:t>
            </a:r>
            <a:br/>
            <a:r>
              <a:t>reason: CONNECTION_TIMEOUT</a:t>
            </a:r>
            <a:br/>
            <a:r>
              <a:t>closing: TRANSPORT_FAILURE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114800"/>
            <a:ext cx="3474720" cy="2194560"/>
          </a:xfrm>
          <a:prstGeom prst="roundRect">
            <a:avLst/>
          </a:prstGeom>
          <a:solidFill>
            <a:srgbClr val="122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2519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9A227"/>
                </a:solidFill>
              </a:defRPr>
            </a:pPr>
            <a:r>
              <a:t>4. ICE Candidate Extraction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61772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</a:defRPr>
            </a:pPr>
            <a:r>
              <a:t>Server: candidate udp 127.0.0.1:59847</a:t>
            </a:r>
            <a:br/>
            <a:r>
              <a:t>Browser: candidate udp 172.18.80.1:53159</a:t>
            </a:r>
            <a:br/>
            <a:r>
              <a:t>Neither can reach the other!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59" y="4114800"/>
            <a:ext cx="3474720" cy="2194560"/>
          </a:xfrm>
          <a:prstGeom prst="roundRect">
            <a:avLst/>
          </a:prstGeom>
          <a:solidFill>
            <a:srgbClr val="122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42519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9A227"/>
                </a:solidFill>
              </a:defRPr>
            </a:pPr>
            <a:r>
              <a:t>5. Root Cause: WSL2 Networking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461772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</a:defRPr>
            </a:pPr>
            <a:r>
              <a:t>UDP ephemeral ports NOT forwarded.</a:t>
            </a:r>
            <a:br/>
            <a:r>
              <a:t>127.0.0.1 in browser = Windows, not WSL2.</a:t>
            </a:r>
            <a:br/>
            <a:r>
              <a:t>172.18.80.1 = Hyper-V adapter (unreachable).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4114800"/>
            <a:ext cx="3474720" cy="2194560"/>
          </a:xfrm>
          <a:prstGeom prst="roundRect">
            <a:avLst/>
          </a:prstGeom>
          <a:solidFill>
            <a:srgbClr val="122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42519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</a:defRPr>
            </a:pPr>
            <a:r>
              <a:t>6. Fix: TCP-only + TURN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461772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</a:defRPr>
            </a:pPr>
            <a:r>
              <a:t>force_tcp: true → stable port 7881</a:t>
            </a:r>
            <a:br/>
            <a:r>
              <a:t>turn.enabled: true → relay fallback</a:t>
            </a:r>
            <a:br/>
            <a:r>
              <a:t>Connection established, 0 → stable session.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C9A227"/>
                </a:solidFill>
              </a:defRPr>
            </a:pPr>
            <a:r>
              <a:t>Before &amp; After: Performance Impact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698480" cy="457200"/>
          </a:xfrm>
          <a:prstGeom prst="roundRect">
            <a:avLst/>
          </a:prstGeom>
          <a:solidFill>
            <a:srgbClr val="1A2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9A227"/>
                </a:solidFill>
              </a:defRPr>
            </a:pPr>
            <a:r>
              <a:t>Metric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417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9A227"/>
                </a:solidFill>
              </a:defRPr>
            </a:pPr>
            <a:r>
              <a:t>P2P (Before)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417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9A227"/>
                </a:solidFill>
              </a:defRPr>
            </a:pPr>
            <a:r>
              <a:t>LiveKit SFU (After)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4767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</a:defRPr>
            </a:pPr>
            <a:r>
              <a:t>Max Participants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94767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F4444"/>
                </a:solidFill>
              </a:defRPr>
            </a:pPr>
            <a:r>
              <a:t>4-5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194767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2C55E"/>
                </a:solidFill>
              </a:defRPr>
            </a:pPr>
            <a:r>
              <a:t>100+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432304"/>
            <a:ext cx="10698480" cy="457200"/>
          </a:xfrm>
          <a:prstGeom prst="roundRect">
            <a:avLst/>
          </a:prstGeom>
          <a:solidFill>
            <a:srgbClr val="122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478024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</a:defRPr>
            </a:pPr>
            <a:r>
              <a:t>Upload per User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47802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F4444"/>
                </a:solidFill>
              </a:defRPr>
            </a:pPr>
            <a:r>
              <a:t>N-1 streams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2478024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2C55E"/>
                </a:solidFill>
              </a:defRPr>
            </a:pPr>
            <a:r>
              <a:t>1 stream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008375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</a:defRPr>
            </a:pPr>
            <a:r>
              <a:t>CPU per User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008375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F4444"/>
                </a:solidFill>
              </a:defRPr>
            </a:pPr>
            <a:r>
              <a:t>N-1 encodes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3008375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2C55E"/>
                </a:solidFill>
              </a:defRPr>
            </a:pPr>
            <a:r>
              <a:t>1 encode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493008"/>
            <a:ext cx="10698480" cy="457200"/>
          </a:xfrm>
          <a:prstGeom prst="roundRect">
            <a:avLst/>
          </a:prstGeom>
          <a:solidFill>
            <a:srgbClr val="122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538727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</a:defRPr>
            </a:pPr>
            <a:r>
              <a:t>Screen Share Quality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538727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F4444"/>
                </a:solidFill>
              </a:defRPr>
            </a:pPr>
            <a:r>
              <a:t>720p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3538727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2C55E"/>
                </a:solidFill>
              </a:defRPr>
            </a:pPr>
            <a:r>
              <a:t>1080p @ 3Mbps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069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</a:defRPr>
            </a:pPr>
            <a:r>
              <a:t>Server Recording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069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F4444"/>
                </a:solidFill>
              </a:defRPr>
            </a:pPr>
            <a:r>
              <a:t>Impossible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4069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2C55E"/>
                </a:solidFill>
              </a:defRPr>
            </a:pPr>
            <a:r>
              <a:t>Built-in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553712"/>
            <a:ext cx="10698480" cy="457200"/>
          </a:xfrm>
          <a:prstGeom prst="roundRect">
            <a:avLst/>
          </a:prstGeom>
          <a:solidFill>
            <a:srgbClr val="122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599431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</a:defRPr>
            </a:pPr>
            <a:r>
              <a:t>Late Join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4599431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F4444"/>
                </a:solidFill>
              </a:defRPr>
            </a:pPr>
            <a:r>
              <a:t>Manual state sync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4599431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2C55E"/>
                </a:solidFill>
              </a:defRPr>
            </a:pPr>
            <a:r>
              <a:t>Automatic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129783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</a:defRPr>
            </a:pPr>
            <a:r>
              <a:t>Breakout Rooms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5129783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F4444"/>
                </a:solidFill>
              </a:defRPr>
            </a:pPr>
            <a:r>
              <a:t>Not possible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5129783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2C55E"/>
                </a:solidFill>
              </a:defRPr>
            </a:pPr>
            <a:r>
              <a:t>LiveKit sub-rooms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5614416"/>
            <a:ext cx="10698480" cy="457200"/>
          </a:xfrm>
          <a:prstGeom prst="roundRect">
            <a:avLst/>
          </a:prstGeom>
          <a:solidFill>
            <a:srgbClr val="122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5660136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</a:defRPr>
            </a:pPr>
            <a:r>
              <a:t>Connection Reliability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566013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F4444"/>
                </a:solidFill>
              </a:defRPr>
            </a:pPr>
            <a:r>
              <a:t>Cascade failures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5660136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2C55E"/>
                </a:solidFill>
              </a:defRPr>
            </a:pPr>
            <a:r>
              <a:t>Server-managed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C9A227"/>
                </a:solidFill>
              </a:defRPr>
            </a:pPr>
            <a:r>
              <a:t>Skills Demonstrated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3474720" cy="5029200"/>
          </a:xfrm>
          <a:prstGeom prst="roundRect">
            <a:avLst/>
          </a:prstGeom>
          <a:solidFill>
            <a:srgbClr val="122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B82F6"/>
                </a:solidFill>
              </a:defRPr>
            </a:pPr>
            <a:r>
              <a:t>Frontend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</a:defRPr>
            </a:pPr>
          </a:p>
          <a:p>
            <a:pPr>
              <a:spcBef>
                <a:spcPts val="400"/>
              </a:spcBef>
              <a:defRPr sz="1200" b="0">
                <a:solidFill>
                  <a:srgbClr val="E0E0E0"/>
                </a:solidFill>
              </a:defRPr>
            </a:pPr>
            <a:r>
              <a:t>• React 18 (hooks, context, refs, error boundaries)</a:t>
            </a:r>
          </a:p>
          <a:p>
            <a:pPr>
              <a:spcBef>
                <a:spcPts val="400"/>
              </a:spcBef>
              <a:defRPr sz="1200" b="0">
                <a:solidFill>
                  <a:srgbClr val="E0E0E0"/>
                </a:solidFill>
              </a:defRPr>
            </a:pPr>
            <a:r>
              <a:t>• LiveKit components-react SDK integration</a:t>
            </a:r>
          </a:p>
          <a:p>
            <a:pPr>
              <a:spcBef>
                <a:spcPts val="400"/>
              </a:spcBef>
              <a:defRPr sz="1200" b="0">
                <a:solidFill>
                  <a:srgbClr val="E0E0E0"/>
                </a:solidFill>
              </a:defRPr>
            </a:pPr>
            <a:r>
              <a:t>• Real-time canvas drawing (HTML5 Canvas API)</a:t>
            </a:r>
          </a:p>
          <a:p>
            <a:pPr>
              <a:spcBef>
                <a:spcPts val="400"/>
              </a:spcBef>
              <a:defRPr sz="1200" b="0">
                <a:solidFill>
                  <a:srgbClr val="E0E0E0"/>
                </a:solidFill>
              </a:defRPr>
            </a:pPr>
            <a:r>
              <a:t>• WebSocket state management with monotonic sequencing</a:t>
            </a:r>
          </a:p>
          <a:p>
            <a:pPr>
              <a:spcBef>
                <a:spcPts val="400"/>
              </a:spcBef>
              <a:defRPr sz="1200" b="0">
                <a:solidFill>
                  <a:srgbClr val="E0E0E0"/>
                </a:solidFill>
              </a:defRPr>
            </a:pPr>
            <a:r>
              <a:t>• Responsive CSS Grid layout with dynamic pinning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59" y="1188720"/>
            <a:ext cx="3474720" cy="5029200"/>
          </a:xfrm>
          <a:prstGeom prst="roundRect">
            <a:avLst/>
          </a:prstGeom>
          <a:solidFill>
            <a:srgbClr val="122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12801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C55E"/>
                </a:solidFill>
              </a:defRPr>
            </a:pPr>
            <a:r>
              <a:t>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173736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</a:defRPr>
            </a:pPr>
          </a:p>
          <a:p>
            <a:pPr>
              <a:spcBef>
                <a:spcPts val="400"/>
              </a:spcBef>
              <a:defRPr sz="1200" b="0">
                <a:solidFill>
                  <a:srgbClr val="E0E0E0"/>
                </a:solidFill>
              </a:defRPr>
            </a:pPr>
            <a:r>
              <a:t>• Go (Gin framework) — WebSocket hub, JWT signing</a:t>
            </a:r>
          </a:p>
          <a:p>
            <a:pPr>
              <a:spcBef>
                <a:spcPts val="400"/>
              </a:spcBef>
              <a:defRPr sz="1200" b="0">
                <a:solidFill>
                  <a:srgbClr val="E0E0E0"/>
                </a:solidFill>
              </a:defRPr>
            </a:pPr>
            <a:r>
              <a:t>• Node.js/Express — auth, MongoDB, session management</a:t>
            </a:r>
          </a:p>
          <a:p>
            <a:pPr>
              <a:spcBef>
                <a:spcPts val="400"/>
              </a:spcBef>
              <a:defRPr sz="1200" b="0">
                <a:solidFill>
                  <a:srgbClr val="E0E0E0"/>
                </a:solidFill>
              </a:defRPr>
            </a:pPr>
            <a:r>
              <a:t>• Token-bucket rate limiting (custom implementation)</a:t>
            </a:r>
          </a:p>
          <a:p>
            <a:pPr>
              <a:spcBef>
                <a:spcPts val="400"/>
              </a:spcBef>
              <a:defRPr sz="1200" b="0">
                <a:solidFill>
                  <a:srgbClr val="E0E0E0"/>
                </a:solidFill>
              </a:defRPr>
            </a:pPr>
            <a:r>
              <a:t>• Gorilla WebSocket — per-client read/write pumps</a:t>
            </a:r>
          </a:p>
          <a:p>
            <a:pPr>
              <a:spcBef>
                <a:spcPts val="400"/>
              </a:spcBef>
              <a:defRPr sz="1200" b="0">
                <a:solidFill>
                  <a:srgbClr val="E0E0E0"/>
                </a:solidFill>
              </a:defRPr>
            </a:pPr>
            <a:r>
              <a:t>• Event-driven architecture (typed JSON envelopes)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188720"/>
            <a:ext cx="3474720" cy="5029200"/>
          </a:xfrm>
          <a:prstGeom prst="roundRect">
            <a:avLst/>
          </a:prstGeom>
          <a:solidFill>
            <a:srgbClr val="122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12801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9A227"/>
                </a:solidFill>
              </a:defRPr>
            </a:pPr>
            <a:r>
              <a:t>Infrastructure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173736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</a:defRPr>
            </a:pPr>
          </a:p>
          <a:p>
            <a:pPr>
              <a:spcBef>
                <a:spcPts val="400"/>
              </a:spcBef>
              <a:defRPr sz="1200" b="0">
                <a:solidFill>
                  <a:srgbClr val="E0E0E0"/>
                </a:solidFill>
              </a:defRPr>
            </a:pPr>
            <a:r>
              <a:t>• LiveKit SFU configuration &amp; deployment</a:t>
            </a:r>
          </a:p>
          <a:p>
            <a:pPr>
              <a:spcBef>
                <a:spcPts val="400"/>
              </a:spcBef>
              <a:defRPr sz="1200" b="0">
                <a:solidFill>
                  <a:srgbClr val="E0E0E0"/>
                </a:solidFill>
              </a:defRPr>
            </a:pPr>
            <a:r>
              <a:t>• WebRTC fundamentals (ICE, DTLS, TURN, STUN)</a:t>
            </a:r>
          </a:p>
          <a:p>
            <a:pPr>
              <a:spcBef>
                <a:spcPts val="400"/>
              </a:spcBef>
              <a:defRPr sz="1200" b="0">
                <a:solidFill>
                  <a:srgbClr val="E0E0E0"/>
                </a:solidFill>
              </a:defRPr>
            </a:pPr>
            <a:r>
              <a:t>• Network debugging (WSL2 port forwarding, NAT)</a:t>
            </a:r>
          </a:p>
          <a:p>
            <a:pPr>
              <a:spcBef>
                <a:spcPts val="400"/>
              </a:spcBef>
              <a:defRPr sz="1200" b="0">
                <a:solidFill>
                  <a:srgbClr val="E0E0E0"/>
                </a:solidFill>
              </a:defRPr>
            </a:pPr>
            <a:r>
              <a:t>• JWT authentication (HMAC-SHA256, LiveKit claims)</a:t>
            </a:r>
          </a:p>
          <a:p>
            <a:pPr>
              <a:spcBef>
                <a:spcPts val="400"/>
              </a:spcBef>
              <a:defRPr sz="1200" b="0">
                <a:solidFill>
                  <a:srgbClr val="E0E0E0"/>
                </a:solidFill>
              </a:defRPr>
            </a:pPr>
            <a:r>
              <a:t>• Multi-service orchestration (3 servers + DB)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9A227"/>
                </a:solidFill>
              </a:defRPr>
            </a:pPr>
            <a: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144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0E0E0"/>
                </a:solidFill>
              </a:defRPr>
            </a:pPr>
          </a:p>
          <a:p>
            <a:pPr>
              <a:spcBef>
                <a:spcPts val="1600"/>
              </a:spcBef>
              <a:defRPr sz="1800" b="0">
                <a:solidFill>
                  <a:srgbClr val="E0E0E0"/>
                </a:solidFill>
              </a:defRPr>
            </a:pPr>
            <a:r>
              <a:t>Migrated from O(n²) peer-to-peer to O(n) SFU — enabling 100+ participant classrooms</a:t>
            </a:r>
          </a:p>
          <a:p>
            <a:pPr>
              <a:spcBef>
                <a:spcPts val="1600"/>
              </a:spcBef>
              <a:defRPr sz="1800" b="0">
                <a:solidFill>
                  <a:srgbClr val="E0E0E0"/>
                </a:solidFill>
              </a:defRPr>
            </a:pPr>
            <a:r>
              <a:t>Built 9 education-specific features that Zoom/Teams don't offer</a:t>
            </a:r>
          </a:p>
          <a:p>
            <a:pPr>
              <a:spcBef>
                <a:spcPts val="1600"/>
              </a:spcBef>
              <a:defRPr sz="1800" b="0">
                <a:solidFill>
                  <a:srgbClr val="E0E0E0"/>
                </a:solidFill>
              </a:defRPr>
            </a:pPr>
            <a:r>
              <a:t>Debugged complex WebRTC networking (ICE candidates, WSL2 port forwarding, protocol versions)</a:t>
            </a:r>
          </a:p>
          <a:p>
            <a:pPr>
              <a:spcBef>
                <a:spcPts val="1600"/>
              </a:spcBef>
              <a:defRPr sz="1800" b="0">
                <a:solidFill>
                  <a:srgbClr val="E0E0E0"/>
                </a:solidFill>
              </a:defRPr>
            </a:pPr>
            <a:r>
              <a:t>Designed dual-transport architecture: LiveKit for media, Go WebSocket for features</a:t>
            </a:r>
          </a:p>
          <a:p>
            <a:pPr>
              <a:spcBef>
                <a:spcPts val="1600"/>
              </a:spcBef>
              <a:defRPr sz="1800" b="0">
                <a:solidFill>
                  <a:srgbClr val="E0E0E0"/>
                </a:solidFill>
              </a:defRPr>
            </a:pPr>
            <a:r>
              <a:t>Solved real-time synchronization: whiteboard batching, rate limiting, coordinate systems</a:t>
            </a:r>
          </a:p>
          <a:p>
            <a:pPr>
              <a:spcBef>
                <a:spcPts val="1600"/>
              </a:spcBef>
              <a:defRPr sz="1800" b="0">
                <a:solidFill>
                  <a:srgbClr val="E0E0E0"/>
                </a:solidFill>
              </a:defRPr>
            </a:pPr>
            <a:r>
              <a:t>Full-stack: React + Go + Node.js + LiveKit + MongoDB + WebSocket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88"/>
                </a:solidFill>
              </a:defRPr>
            </a:pPr>
            <a:r>
              <a:t>github.com/cw2636/SLGS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